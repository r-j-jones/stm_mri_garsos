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STM-GARSOS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Detailed methods presentation</a:t>
            </a:r>
          </a:p>
          <a:p>
            <a:pPr>
              <a:defRPr>
                <a:latin typeface="Aptos"/>
              </a:defRPr>
            </a:pPr>
            <a:r>
              <a:t>Historical stable workflow through spatial-coefficient estimation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Reconstruction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Dynamic image model: X_t(x,y)=\sum_{\ell=1}^{L}{\rm ST}_{t,\ell}(x,y)C_\ell(x,y).</a:t>
            </a:r>
          </a:p>
          <a:p>
            <a:pPr>
              <a:defRPr sz="2100">
                <a:latin typeface="Aptos"/>
              </a:defRPr>
            </a:pPr>
            <a:r>
              <a:t>Unknown: C_l(x,y), an [Nx x Ny x L] coefficient volume.</a:t>
            </a:r>
          </a:p>
          <a:p>
            <a:pPr>
              <a:defRPr sz="2100">
                <a:latin typeface="Aptos"/>
              </a:defRPr>
            </a:pPr>
            <a:r>
              <a:t>Measured data: multicoil radial samples for each temporal frame.</a:t>
            </a:r>
          </a:p>
          <a:p>
            <a:pPr>
              <a:defRPr sz="2100">
                <a:latin typeface="Aptos"/>
              </a:defRPr>
            </a:pPr>
            <a:r>
              <a:t>Goal: fit the measured radial data while restricting temporal variation to the STM subspace.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Entry point and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main_STM_GARSOS loads input k-space identifiers and scan metadata.</a:t>
            </a:r>
          </a:p>
          <a:p>
            <a:pPr>
              <a:defRPr sz="2100">
                <a:latin typeface="Aptos"/>
              </a:defRPr>
            </a:pPr>
            <a:r>
              <a:t>A vendor-reconstructed reference volume defines target geometry.</a:t>
            </a:r>
          </a:p>
          <a:p>
            <a:pPr>
              <a:defRPr sz="2100">
                <a:latin typeface="Aptos"/>
              </a:defRPr>
            </a:pPr>
            <a:r>
              <a:t>prepareGARSOSSTMData creates shared prepared data and calibration metadata.</a:t>
            </a:r>
          </a:p>
          <a:p>
            <a:pPr>
              <a:defRPr sz="2100">
                <a:latin typeface="Aptos"/>
              </a:defRPr>
            </a:pPr>
            <a:r>
              <a:t>Historical defaults: 15 spokes/frame, 32 x 32 calibration square, L = 7.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Prepared trajectory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sampledData: [nReadout x nPartitions x nSpokes, nCoils].</a:t>
            </a:r>
          </a:p>
          <a:p>
            <a:pPr>
              <a:defRPr sz="1800">
                <a:latin typeface="Aptos"/>
              </a:defRPr>
            </a:pPr>
            <a:r>
              <a:t>kSpaceLocations: flattened [kx, ky, kz] rows.</a:t>
            </a:r>
          </a:p>
          <a:p>
            <a:pPr>
              <a:defRPr sz="1800">
                <a:latin typeface="Aptos"/>
              </a:defRPr>
            </a:pPr>
            <a:r>
              <a:t>spokeIndex: one identifier per flattened sample.</a:t>
            </a:r>
          </a:p>
          <a:p>
            <a:pPr>
              <a:defRPr sz="1800">
                <a:latin typeface="Aptos"/>
              </a:defRPr>
            </a:pPr>
            <a:r>
              <a:t>DCF: one radial density-compensation value per sample.</a:t>
            </a:r>
          </a:p>
          <a:p>
            <a:pPr>
              <a:defRPr sz="1800">
                <a:latin typeface="Aptos"/>
              </a:defRPr>
            </a:pPr>
            <a:r>
              <a:t>Coordinates use normalized cycles/FOV-like units.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Trajectory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k_x=\rho\cos(\phi) and k_y=\rho\sin(\phi).</a:t>
            </a:r>
          </a:p>
          <a:p>
            <a:pPr>
              <a:defRPr sz="1800">
                <a:latin typeface="Aptos"/>
              </a:defRPr>
            </a:pPr>
            <a:r>
              <a:t>rho is the centered readout coordinate normalized by readout length.</a:t>
            </a:r>
          </a:p>
          <a:p>
            <a:pPr>
              <a:defRPr sz="1800">
                <a:latin typeface="Aptos"/>
              </a:defRPr>
            </a:pPr>
            <a:r>
              <a:t>phi follows the GAR-SOS spoke-angle convention.</a:t>
            </a:r>
          </a:p>
          <a:p>
            <a:pPr>
              <a:defRPr sz="1800">
                <a:latin typeface="Aptos"/>
              </a:defRPr>
            </a:pPr>
            <a:r>
              <a:t>kz is generated from the partition index and acquisition geometry.</a:t>
            </a:r>
          </a:p>
          <a:p>
            <a:pPr>
              <a:defRPr sz="1800">
                <a:latin typeface="Aptos"/>
              </a:defRPr>
            </a:pPr>
            <a:r>
              <a:t>The arrays are flattened in readout/partition/spoke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Readout processing and whitening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Readout delay correction is estimated from selected calibration lines.</a:t>
            </a:r>
          </a:p>
          <a:p>
            <a:pPr>
              <a:defRPr sz="1800">
                <a:latin typeface="Aptos"/>
              </a:defRPr>
            </a:pPr>
            <a:r>
              <a:t>Readout Fourier processing is applied before the final flattening.</a:t>
            </a:r>
          </a:p>
          <a:p>
            <a:pPr>
              <a:defRPr sz="1800">
                <a:latin typeface="Aptos"/>
              </a:defRPr>
            </a:pPr>
            <a:r>
              <a:t>Partition padding is performed during preparation.</a:t>
            </a:r>
          </a:p>
          <a:p>
            <a:pPr>
              <a:defRPr sz="1800">
                <a:latin typeface="Aptos"/>
              </a:defRPr>
            </a:pPr>
            <a:r>
              <a:t>Noise covariance is estimated from noise acquisitions.</a:t>
            </a:r>
          </a:p>
          <a:p>
            <a:pPr>
              <a:defRPr sz="1800">
                <a:latin typeface="Aptos"/>
              </a:defRPr>
            </a:pPr>
            <a:r>
              <a:t>The whitening transform is applied across receive channels.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Density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The existing DCF is based on radial shell-sector area.</a:t>
            </a:r>
          </a:p>
          <a:p>
            <a:pPr>
              <a:defRPr sz="1800">
                <a:latin typeface="Aptos"/>
              </a:defRPr>
            </a:pPr>
            <a:r>
              <a:t>It is generated from the in-plane radius and readout increment.</a:t>
            </a:r>
          </a:p>
          <a:p>
            <a:pPr>
              <a:defRPr sz="1800">
                <a:latin typeface="Aptos"/>
              </a:defRPr>
            </a:pPr>
            <a:r>
              <a:t>Frame-specific DCF values are selected with the frame samples.</a:t>
            </a:r>
          </a:p>
          <a:p>
            <a:pPr>
              <a:defRPr sz="1800">
                <a:latin typeface="Aptos"/>
              </a:defRPr>
            </a:pPr>
            <a:r>
              <a:t>Calibration gridding applies DCF and additional reconstruction weights.</a:t>
            </a:r>
          </a:p>
          <a:p>
            <a:pPr>
              <a:defRPr sz="1800">
                <a:latin typeface="Aptos"/>
              </a:defRPr>
            </a:pPr>
            <a:r>
              <a:t>The later STM radial operator uses its prepared radial samples and NUFFT convention.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Frame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Unique spoke identifiers define the acquisition order.</a:t>
            </a:r>
          </a:p>
          <a:p>
            <a:pPr>
              <a:defRPr sz="1800">
                <a:latin typeface="Aptos"/>
              </a:defRPr>
            </a:pPr>
            <a:r>
              <a:t>nFrames = floor(nSpokes / nSpokesPerFrame).</a:t>
            </a:r>
          </a:p>
          <a:p>
            <a:pPr>
              <a:defRPr sz="1800">
                <a:latin typeface="Aptos"/>
              </a:defRPr>
            </a:pPr>
            <a:r>
              <a:t>Each frame contains all readout and partition samples for its spokes.</a:t>
            </a:r>
          </a:p>
          <a:p>
            <a:pPr>
              <a:defRPr sz="1800">
                <a:latin typeface="Aptos"/>
              </a:defRPr>
            </a:pPr>
            <a:r>
              <a:t>Incomplete trailing spokes are excluded.</a:t>
            </a:r>
          </a:p>
          <a:p>
            <a:pPr>
              <a:defRPr sz="1800">
                <a:latin typeface="Aptos"/>
              </a:defRPr>
            </a:pPr>
            <a:r>
              <a:t>For the baseline, 15 spokes/frame produced approximately 133 frames.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Calibration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reconstructGARFrameForSTM selects frameData, frameTrajectory, and frameDCF.</a:t>
            </a:r>
          </a:p>
          <a:p>
            <a:pPr>
              <a:defRPr sz="1800">
                <a:latin typeface="Aptos"/>
              </a:defRPr>
            </a:pPr>
            <a:r>
              <a:t>Coordinate transform and translation phase correction are applied.</a:t>
            </a:r>
          </a:p>
          <a:p>
            <a:pPr>
              <a:defRPr sz="1800">
                <a:latin typeface="Aptos"/>
              </a:defRPr>
            </a:pPr>
            <a:r>
              <a:t>Gaussian/spatial weighting and DCF scaling are applied.</a:t>
            </a:r>
          </a:p>
          <a:p>
            <a:pPr>
              <a:defRPr sz="1800">
                <a:latin typeface="Aptos"/>
              </a:defRPr>
            </a:pPr>
            <a:r>
              <a:t>GpuReconstructur20181008 grids every coil separately.</a:t>
            </a:r>
          </a:p>
          <a:p>
            <a:pPr>
              <a:defRPr sz="1800">
                <a:latin typeface="Aptos"/>
              </a:defRPr>
            </a:pPr>
            <a:r>
              <a:t>The class applies inverse FFT, resize/deapodization, and coil-profile accumulation.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3-D grid and target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Target image geometry: imageSize = [224, 224, 96].</a:t>
            </a:r>
          </a:p>
          <a:p>
            <a:pPr>
              <a:defRPr sz="1800">
                <a:latin typeface="Aptos"/>
              </a:defRPr>
            </a:pPr>
            <a:r>
              <a:t>Oversampled grid: gridSize = ceil(1.375 x imageSize) = [308, 308, 132].</a:t>
            </a:r>
          </a:p>
          <a:p>
            <a:pPr>
              <a:defRPr sz="1800">
                <a:latin typeface="Aptos"/>
              </a:defRPr>
            </a:pPr>
            <a:r>
              <a:t>Samples are deposited with a 3-D Kaiser-Bessel kernel.</a:t>
            </a:r>
          </a:p>
          <a:p>
            <a:pPr>
              <a:defRPr sz="1800">
                <a:latin typeface="Aptos"/>
              </a:defRPr>
            </a:pPr>
            <a:r>
              <a:t>ifftn is applied on the oversampled Cartesian grid.</a:t>
            </a:r>
          </a:p>
          <a:p>
            <a:pPr>
              <a:defRPr sz="1800">
                <a:latin typeface="Aptos"/>
              </a:defRPr>
            </a:pPr>
            <a:r>
              <a:t>shiftAndResize maps the result to the centered 224 x 224 x 96 grid.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Calibration k-space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Select reconstructedVolume(:, :, zSlice).</a:t>
            </a:r>
          </a:p>
          <a:p>
            <a:pPr>
              <a:defRPr sz="1800">
                <a:latin typeface="Aptos"/>
              </a:defRPr>
            </a:pPr>
            <a:r>
              <a:t>Apply fftshift(fft2(ifftshift(senseImage))).</a:t>
            </a:r>
          </a:p>
          <a:p>
            <a:pPr>
              <a:defRPr sz="1800">
                <a:latin typeface="Aptos"/>
              </a:defRPr>
            </a:pPr>
            <a:r>
              <a:t>Extract the centered calibration square with localCentralRegion.</a:t>
            </a:r>
          </a:p>
          <a:p>
            <a:pPr>
              <a:defRPr sz="1800">
                <a:latin typeface="Aptos"/>
              </a:defRPr>
            </a:pPr>
            <a:r>
              <a:t>Baseline calibrationSize = [32, 32].</a:t>
            </a:r>
          </a:p>
          <a:p>
            <a:pPr>
              <a:defRPr sz="1800">
                <a:latin typeface="Aptos"/>
              </a:defRPr>
            </a:pPr>
            <a:r>
              <a:t>Single-slice kCal has dimensions [32 x 32 x nFrames].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\texttt{STM\_computation} receives k_{\rm Cal}, desired map dimensions, L, and options.</a:t>
            </a:r>
          </a:p>
          <a:p>
            <a:pPr>
              <a:defRPr sz="1800">
                <a:latin typeface="Aptos"/>
              </a:defRPr>
            </a:pPr>
            <a:r>
              <a:t>The calibration data encode temporal correlations across frames.</a:t>
            </a:r>
          </a:p>
          <a:p>
            <a:pPr>
              <a:defRPr sz="1800">
                <a:latin typeface="Aptos"/>
              </a:defRPr>
            </a:pPr>
            <a:r>
              <a:t>The algorithm estimates ST_maps [Nx x Ny x Nt x L].</a:t>
            </a:r>
          </a:p>
          <a:p>
            <a:pPr>
              <a:defRPr sz="1800">
                <a:latin typeface="Aptos"/>
              </a:defRPr>
            </a:pPr>
            <a:r>
              <a:t>eigenValues provide a diagnostic of model rank/content.</a:t>
            </a:r>
          </a:p>
          <a:p>
            <a:pPr>
              <a:defRPr sz="1800">
                <a:latin typeface="Aptos"/>
              </a:defRPr>
            </a:pPr>
            <a:r>
              <a:t>The baseline used L = 7 because more modes appeared informative than in the Cartesian 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Historical z-slice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prepareGARSOSSliceDataForMCNUFFT restores [readout, partition, spoke, coil].</a:t>
            </a:r>
          </a:p>
          <a:p>
            <a:pPr>
              <a:defRPr sz="1800">
                <a:latin typeface="Aptos"/>
              </a:defRPr>
            </a:pPr>
            <a:r>
              <a:t>It applies the selected translation phase and coordinate transform.</a:t>
            </a:r>
          </a:p>
          <a:p>
            <a:pPr>
              <a:defRPr sz="1800">
                <a:latin typeface="Aptos"/>
              </a:defRPr>
            </a:pPr>
            <a:r>
              <a:t>Historical baseline: centered direct IFFT along the 58 partition entries.</a:t>
            </a:r>
          </a:p>
          <a:p>
            <a:pPr>
              <a:defRPr sz="1800">
                <a:latin typeface="Aptos"/>
              </a:defRPr>
            </a:pPr>
            <a:r>
              <a:t>The requested zIndex is selected from that 58-point result.</a:t>
            </a:r>
          </a:p>
          <a:p>
            <a:pPr>
              <a:defRPr sz="1800">
                <a:latin typeface="Aptos"/>
              </a:defRPr>
            </a:pPr>
            <a:r>
              <a:t>This differs from the later 58-to-96 gridded z-only correction.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Radial STM data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After frame grouping: radialData [nReadout x nSpokesPerFrame x nCoil x nFrame].</a:t>
            </a:r>
          </a:p>
          <a:p>
            <a:pPr>
              <a:defRPr sz="1800">
                <a:latin typeface="Aptos"/>
              </a:defRPr>
            </a:pPr>
            <a:r>
              <a:t>kxy [nReadout x nSpokesPerFrame x nFrame].</a:t>
            </a:r>
          </a:p>
          <a:p>
            <a:pPr>
              <a:defRPr sz="1800">
                <a:latin typeface="Aptos"/>
              </a:defRPr>
            </a:pPr>
            <a:r>
              <a:t>The in-plane radial trajectory is retained.</a:t>
            </a:r>
          </a:p>
          <a:p>
            <a:pPr>
              <a:defRPr sz="1800">
                <a:latin typeface="Aptos"/>
              </a:defRPr>
            </a:pPr>
            <a:r>
              <a:t>The coil dimension is not combined before the STM solve.</a:t>
            </a:r>
          </a:p>
          <a:p>
            <a:pPr>
              <a:defRPr sz="1800">
                <a:latin typeface="Aptos"/>
              </a:defRPr>
            </a:pPr>
            <a:r>
              <a:t>Trajectory/data correspondence is validated before operator construction.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Forward sensitivity-map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Forward coil model: d_c={\cal N}_{\rm radial}(S_c\odot X).</a:t>
            </a:r>
          </a:p>
          <a:p>
            <a:pPr>
              <a:defRPr sz="1800">
                <a:latin typeface="Aptos"/>
              </a:defRPr>
            </a:pPr>
            <a:r>
              <a:t>S_c are forward receive sensitivities in the whitened channel basis.</a:t>
            </a:r>
          </a:p>
          <a:p>
            <a:pPr>
              <a:defRPr sz="1800">
                <a:latin typeface="Aptos"/>
              </a:defRPr>
            </a:pPr>
            <a:r>
              <a:t>Adjoint coil combination is \sum_c S_c^* d_c after NUFFT adjoints.</a:t>
            </a:r>
          </a:p>
          <a:p>
            <a:pPr>
              <a:defRPr sz="1800">
                <a:latin typeface="Aptos"/>
              </a:defRPr>
            </a:pPr>
            <a:r>
              <a:t>This is distinct from calibration-only coil-combination profiles.</a:t>
            </a:r>
          </a:p>
          <a:p>
            <a:pPr>
              <a:defRPr sz="1800">
                <a:latin typeface="Aptos"/>
              </a:defRPr>
            </a:pPr>
            <a:r>
              <a:t>Map and dynamic-data channel ordering must match.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Radial NUFFT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buildGARSOSRadialEncodingOperator creates one NUFFT plan per frame.</a:t>
            </a:r>
          </a:p>
          <a:p>
            <a:pPr>
              <a:defRPr sz="1800">
                <a:latin typeface="Aptos"/>
              </a:defRPr>
            </a:pPr>
            <a:r>
              <a:t>Forward: multiply by coil maps, then NUFFT each coil.</a:t>
            </a:r>
          </a:p>
          <a:p>
            <a:pPr>
              <a:defRPr sz="1800">
                <a:latin typeface="Aptos"/>
              </a:defRPr>
            </a:pPr>
            <a:r>
              <a:t>Adjoint: NUFFT-adjoint each coil, then sum conjugated maps.</a:t>
            </a:r>
          </a:p>
          <a:p>
            <a:pPr>
              <a:defRPr sz="1800">
                <a:latin typeface="Aptos"/>
              </a:defRPr>
            </a:pPr>
            <a:r>
              <a:t>Optional single precision converts trajectories, maps, data, and outputs.</a:t>
            </a:r>
          </a:p>
          <a:p>
            <a:pPr>
              <a:defRPr sz="1800">
                <a:latin typeface="Aptos"/>
              </a:defRPr>
            </a:pPr>
            <a:r>
              <a:t>The operator exposes forward, adjoint, and vectorized forms.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STM operator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buildGARSOSSTMOperators composes STM synthesis with radial encoding.</a:t>
            </a:r>
          </a:p>
          <a:p>
            <a:pPr>
              <a:defRPr sz="1800">
                <a:latin typeface="Aptos"/>
              </a:defRPr>
            </a:pPr>
            <a:r>
              <a:t>\mathcal{A}(C)=\mathcal{F}(\mathcal{S}(C)).</a:t>
            </a:r>
          </a:p>
          <a:p>
            <a:pPr>
              <a:defRPr sz="1800">
                <a:latin typeface="Aptos"/>
              </a:defRPr>
            </a:pPr>
            <a:r>
              <a:t>\mathcal{A}^H(y)=\mathcal{S}^H(\mathcal{F}^H(y)).</a:t>
            </a:r>
          </a:p>
          <a:p>
            <a:pPr>
              <a:defRPr sz="1800">
                <a:latin typeface="Aptos"/>
              </a:defRPr>
            </a:pPr>
            <a:r>
              <a:t>The normal operator is applied without explicitly forming a matrix.</a:t>
            </a:r>
          </a:p>
          <a:p>
            <a:pPr>
              <a:defRPr sz="1800">
                <a:latin typeface="Aptos"/>
              </a:defRPr>
            </a:pPr>
            <a:r>
              <a:t>The coefficient vector has Nx x Ny x L entries.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PCG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Right-hand side: b=\mathcal{A}^H y.</a:t>
            </a:r>
          </a:p>
          <a:p>
            <a:pPr>
              <a:defRPr sz="1800">
                <a:latin typeface="Aptos"/>
              </a:defRPr>
            </a:pPr>
            <a:r>
              <a:t>Unregularized system: (\mathcal{A}^H\mathcal{A})C=b.</a:t>
            </a:r>
          </a:p>
          <a:p>
            <a:pPr>
              <a:defRPr sz="1800">
                <a:latin typeface="Aptos"/>
              </a:defRPr>
            </a:pPr>
            <a:r>
              <a:t>The baseline used tolerance 1e-5 and up to 50 iterations.</a:t>
            </a:r>
          </a:p>
          <a:p>
            <a:pPr>
              <a:defRPr sz="1800">
                <a:latin typeface="Aptos"/>
              </a:defRPr>
            </a:pPr>
            <a:r>
              <a:t>Residual history, status flag, iteration count, and elapsed time are stored.</a:t>
            </a:r>
          </a:p>
          <a:p>
            <a:pPr>
              <a:defRPr sz="1800">
                <a:latin typeface="Aptos"/>
              </a:defRPr>
            </a:pPr>
            <a:r>
              <a:t>Preconditioning and Toeplitz support were preliminary rather than baseline assumptions.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Optional Tikhonov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Regularized system: (\mathcal{A}^H\mathcal{A}+\lambda I)C=b.</a:t>
            </a:r>
          </a:p>
          <a:p>
            <a:pPr>
              <a:defRPr sz="2100">
                <a:latin typeface="Aptos"/>
              </a:defRPr>
            </a:pPr>
            <a:r>
              <a:t>The implementation can run a second PCG solve with lambda.</a:t>
            </a:r>
          </a:p>
          <a:p>
            <a:pPr>
              <a:defRPr sz="2100">
                <a:latin typeface="Aptos"/>
              </a:defRPr>
            </a:pPr>
            <a:r>
              <a:t>The effective lambda depends on data, map, NUFFT, and DCF scaling.</a:t>
            </a:r>
          </a:p>
          <a:p>
            <a:pPr>
              <a:defRPr sz="2100">
                <a:latin typeface="Aptos"/>
              </a:defRPr>
            </a:pPr>
            <a:r>
              <a:t>A numerical lambda should not be compared across differently scaled operators without calibration.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Synthesis and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latin typeface="Aptos"/>
              </a:defRPr>
            </a:pPr>
            <a:r>
              <a:t>\widehat{X}_t=\sum_{\ell=1}^{L}{\rm ST}_{t,\ell}\widehat{C}_\ell.</a:t>
            </a:r>
          </a:p>
          <a:p>
            <a:pPr>
              <a:defRPr sz="2100">
                <a:latin typeface="Aptos"/>
              </a:defRPr>
            </a:pPr>
            <a:r>
              <a:t>sense_recon_stm has dimensions [Nx x Ny x nFrame].</a:t>
            </a:r>
          </a:p>
          <a:p>
            <a:pPr>
              <a:defRPr sz="2100">
                <a:latin typeface="Aptos"/>
              </a:defRPr>
            </a:pPr>
            <a:r>
              <a:t>The result also contains coefficient images and PCG diagnostics.</a:t>
            </a:r>
          </a:p>
          <a:p>
            <a:pPr>
              <a:defRPr sz="2100">
                <a:latin typeface="Aptos"/>
              </a:defRPr>
            </a:pPr>
            <a:r>
              <a:t>The initial reported output contained approximately 133 reconstructed frames.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Baseline versus later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Baseline: direct 58-point partition IFFT for STM slice data.</a:t>
            </a:r>
          </a:p>
          <a:p>
            <a:pPr>
              <a:defRPr sz="1800">
                <a:latin typeface="Aptos"/>
              </a:defRPr>
            </a:pPr>
            <a:r>
              <a:t>Later work: forward sensitivity-map estimator and map-semantics audit.</a:t>
            </a:r>
          </a:p>
          <a:p>
            <a:pPr>
              <a:defRPr sz="1800">
                <a:latin typeface="Aptos"/>
              </a:defRPr>
            </a:pPr>
            <a:r>
              <a:t>Later work: coil-preserving gridded z-only path for the 96-slice geometry.</a:t>
            </a:r>
          </a:p>
          <a:p>
            <a:pPr>
              <a:defRPr sz="1800">
                <a:latin typeface="Aptos"/>
              </a:defRPr>
            </a:pPr>
            <a:r>
              <a:t>Later work: scaling, conditioning, coverage, regularization, and preconditioning analysis.</a:t>
            </a:r>
          </a:p>
          <a:p>
            <a:pPr>
              <a:defRPr sz="1800">
                <a:latin typeface="Aptos"/>
              </a:defRPr>
            </a:pPr>
            <a:r>
              <a:t>These improvements should be presented separately from the historical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ptos"/>
              </a:defRPr>
            </a:pPr>
            <a:r>
              <a:t>End-to-end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Aptos"/>
              </a:defRPr>
            </a:pPr>
            <a:r>
              <a:t>Raw GAR-SOS data -&gt; corrected, whitened radial samples.</a:t>
            </a:r>
          </a:p>
          <a:p>
            <a:pPr>
              <a:defRPr sz="1800">
                <a:latin typeface="Aptos"/>
              </a:defRPr>
            </a:pPr>
            <a:r>
              <a:t>Trajectory + DCF + spoke IDs -&gt; temporal frames.</a:t>
            </a:r>
          </a:p>
          <a:p>
            <a:pPr>
              <a:defRPr sz="1800">
                <a:latin typeface="Aptos"/>
              </a:defRPr>
            </a:pPr>
            <a:r>
              <a:t>3-D gridding -&gt; calibration Cartesian k-space -&gt; central square.</a:t>
            </a:r>
          </a:p>
          <a:p>
            <a:pPr>
              <a:defRPr sz="1800">
                <a:latin typeface="Aptos"/>
              </a:defRPr>
            </a:pPr>
            <a:r>
              <a:t>STM calibration -&gt; ST maps and eigenvalues.</a:t>
            </a:r>
          </a:p>
          <a:p>
            <a:pPr>
              <a:defRPr sz="1800">
                <a:latin typeface="Aptos"/>
              </a:defRPr>
            </a:pPr>
            <a:r>
              <a:t>Coil-resolved radial data + sensitivity maps -&gt; STM/radial operator.</a:t>
            </a:r>
          </a:p>
          <a:p>
            <a:pPr>
              <a:defRPr sz="1800">
                <a:latin typeface="Aptos"/>
              </a:defRPr>
            </a:pPr>
            <a:r>
              <a:t>PCG -&gt; spatial coefficients -&gt; dynamic image series.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